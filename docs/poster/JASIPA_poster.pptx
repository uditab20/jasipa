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7816" cy="302757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7816" cy="30275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87816" cy="4206240"/>
          </a:xfrm>
          <a:prstGeom prst="rect">
            <a:avLst/>
          </a:prstGeom>
          <a:solidFill>
            <a:srgbClr val="1C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463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DF2FE"/>
                </a:solidFill>
                <a:latin typeface="Arial"/>
              </a:rPr>
              <a:t>MINOR PROJECT 2026–27 · DEPARTMENT OF CSE (ARTIFICIAL INTELLIGENCE)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920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0" b="1" i="0">
                <a:solidFill>
                  <a:srgbClr val="FFFFFF"/>
                </a:solidFill>
                <a:latin typeface="Arial"/>
              </a:rPr>
              <a:t>JASIPA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920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0" i="0">
                <a:solidFill>
                  <a:srgbClr val="FFFFFF"/>
                </a:solidFill>
                <a:latin typeface="Arial"/>
              </a:rPr>
              <a:t>Job Applicant Screening and Interview Panel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920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E4E4E7"/>
                </a:solidFill>
                <a:latin typeface="Arial"/>
              </a:rPr>
              <a:t>[Team member names] · Guide: [Guide name]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19741896" cy="1371600"/>
          </a:xfrm>
          <a:prstGeom prst="roundRect">
            <a:avLst>
              <a:gd name="adj" fmla="val 6000"/>
            </a:avLst>
          </a:prstGeom>
          <a:solidFill>
            <a:srgbClr val="ED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572000"/>
            <a:ext cx="1882749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1C2024"/>
                </a:solidFill>
                <a:latin typeface="Arial"/>
              </a:rPr>
              <a:t>Three independent agents screen, assess and evaluate each candidate; a coordinator merges their evidence; every recommendation carries a bias check and goes to a human, who records the decision in a verifiable audit trail.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73952"/>
            <a:ext cx="109728" cy="50292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6400800"/>
            <a:ext cx="95966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 i="0">
                <a:solidFill>
                  <a:srgbClr val="1C2024"/>
                </a:solidFill>
                <a:latin typeface="Arial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7269480"/>
            <a:ext cx="959662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2400" b="0" i="0">
                <a:solidFill>
                  <a:srgbClr val="1C2024"/>
                </a:solidFill>
                <a:latin typeface="Arial"/>
              </a:rPr>
              <a:t>Manual screening is slow and inconsistent between reviewers and rounds.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2400" b="0" i="0">
                <a:solidFill>
                  <a:srgbClr val="1C2024"/>
                </a:solidFill>
                <a:latin typeface="Arial"/>
              </a:rPr>
              <a:t>Small applicant pools make adverse-impact checks easy to misread — no data is often reported as no bias.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2400" b="0" i="0">
                <a:solidFill>
                  <a:srgbClr val="1C2024"/>
                </a:solidFill>
                <a:latin typeface="Arial"/>
              </a:rPr>
              <a:t>Recruitment AI is high-risk under the EU AI Act; automated rejection without human review is unacceptable.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0588752"/>
            <a:ext cx="109728" cy="50292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0515600"/>
            <a:ext cx="95966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 i="0">
                <a:solidFill>
                  <a:srgbClr val="1C2024"/>
                </a:solidFill>
                <a:latin typeface="Arial"/>
              </a:rPr>
              <a:t>Architecture</a:t>
            </a:r>
          </a:p>
        </p:txBody>
      </p:sp>
      <p:pic>
        <p:nvPicPr>
          <p:cNvPr id="15" name="Picture 1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502" y="11384280"/>
            <a:ext cx="7245544" cy="75895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22960" y="19275552"/>
            <a:ext cx="109728" cy="50292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9202400"/>
            <a:ext cx="95966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 i="0">
                <a:solidFill>
                  <a:srgbClr val="1C2024"/>
                </a:solidFill>
                <a:latin typeface="Arial"/>
              </a:rPr>
              <a:t>Agentic workflow</a:t>
            </a:r>
          </a:p>
        </p:txBody>
      </p:sp>
      <p:pic>
        <p:nvPicPr>
          <p:cNvPr id="18" name="Picture 17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207" y="20071080"/>
            <a:ext cx="7662134" cy="4023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24277320"/>
            <a:ext cx="959662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2000" b="1" i="0">
                <a:solidFill>
                  <a:srgbClr val="1C2024"/>
                </a:solidFill>
                <a:latin typeface="Arial"/>
              </a:rPr>
              <a:t>Tools:</a:t>
            </a:r>
            <a:r>
              <a:rPr sz="2000" b="0" i="0">
                <a:solidFill>
                  <a:srgbClr val="1C2024"/>
                </a:solidFill>
                <a:latin typeface="Arial"/>
              </a:rPr>
              <a:t> resume_screen · skill_assess (sandboxed code) · bias_check · MCP ATS tools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2000" b="1" i="0">
                <a:solidFill>
                  <a:srgbClr val="1C2024"/>
                </a:solidFill>
                <a:latin typeface="Arial"/>
              </a:rPr>
              <a:t>Skill:</a:t>
            </a:r>
            <a:r>
              <a:rPr sz="2000" b="0" i="0">
                <a:solidFill>
                  <a:srgbClr val="1C2024"/>
                </a:solidFill>
                <a:latin typeface="Arial"/>
              </a:rPr>
              <a:t> versioned, JD-anchored rubric with stage weights 0.4 / 0.4 / 0.2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2000" b="1" i="0">
                <a:solidFill>
                  <a:srgbClr val="1C2024"/>
                </a:solidFill>
                <a:latin typeface="Arial"/>
              </a:rPr>
              <a:t>Escalation:</a:t>
            </a:r>
            <a:r>
              <a:rPr sz="2000" b="0" i="0">
                <a:solidFill>
                  <a:srgbClr val="1C2024"/>
                </a:solidFill>
                <a:latin typeface="Arial"/>
              </a:rPr>
              <a:t> two reviewers when agents diverge by ≥ 30 points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68228" y="6473952"/>
            <a:ext cx="109728" cy="50292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2548" y="6400800"/>
            <a:ext cx="95966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 i="0">
                <a:solidFill>
                  <a:srgbClr val="1C2024"/>
                </a:solidFill>
                <a:latin typeface="Arial"/>
              </a:rPr>
              <a:t>Bias check: three honest states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68228" y="7269480"/>
            <a:ext cx="3046476" cy="2194560"/>
          </a:xfrm>
          <a:prstGeom prst="roundRect">
            <a:avLst>
              <a:gd name="adj" fmla="val 6000"/>
            </a:avLst>
          </a:prstGeom>
          <a:solidFill>
            <a:srgbClr val="F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2548" y="7498080"/>
            <a:ext cx="24978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CE2C31"/>
                </a:solidFill>
                <a:latin typeface="Arial"/>
              </a:rPr>
              <a:t>Disparity detected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2548" y="8366760"/>
            <a:ext cx="24978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1C2024"/>
                </a:solidFill>
                <a:latin typeface="Arial"/>
              </a:rPr>
              <a:t>Impact ratio &lt; 0.80 with n ≥ 5 per cohort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3304" y="7269480"/>
            <a:ext cx="3046476" cy="2194560"/>
          </a:xfrm>
          <a:prstGeom prst="roundRect">
            <a:avLst>
              <a:gd name="adj" fmla="val 6000"/>
            </a:avLst>
          </a:prstGeom>
          <a:solidFill>
            <a:srgbClr val="E9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517624" y="7498080"/>
            <a:ext cx="24978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8794E"/>
                </a:solidFill>
                <a:latin typeface="Arial"/>
              </a:rPr>
              <a:t>No indicator detected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17624" y="8366760"/>
            <a:ext cx="24978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1C2024"/>
                </a:solidFill>
                <a:latin typeface="Arial"/>
              </a:rPr>
              <a:t>Screen not triggered; significance is a note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518380" y="7269480"/>
            <a:ext cx="3046476" cy="2194560"/>
          </a:xfrm>
          <a:prstGeom prst="roundRect">
            <a:avLst>
              <a:gd name="adj" fmla="val 6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792700" y="7498080"/>
            <a:ext cx="24978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AB6400"/>
                </a:solidFill>
                <a:latin typeface="Arial"/>
              </a:rPr>
              <a:t>Insufficient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92700" y="8366760"/>
            <a:ext cx="24978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1C2024"/>
                </a:solidFill>
                <a:latin typeface="Arial"/>
              </a:rPr>
              <a:t>Too few candidates — never shown as fair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68228" y="9646920"/>
            <a:ext cx="95966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0646C"/>
                </a:solidFill>
                <a:latin typeface="Arial"/>
              </a:rPr>
              <a:t>Fisher's exact test and Wilson 95% intervals quantify uncertainty. Cohorts are HR-recorded labels, never inferred and never shown to agents. The check informs the reviewer; it never changes scores or routing.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68228" y="10954512"/>
            <a:ext cx="109728" cy="50292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2548" y="10881360"/>
            <a:ext cx="95966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 i="0">
                <a:solidFill>
                  <a:srgbClr val="1C2024"/>
                </a:solidFill>
                <a:latin typeface="Arial"/>
              </a:rPr>
              <a:t>System in use</a:t>
            </a:r>
          </a:p>
        </p:txBody>
      </p:sp>
      <p:pic>
        <p:nvPicPr>
          <p:cNvPr id="34" name="Picture 33" descr="03-job-assess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8228" y="11847909"/>
            <a:ext cx="4661154" cy="2913221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pic>
        <p:nvPicPr>
          <p:cNvPr id="35" name="Picture 34" descr="05-candidate-co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3702" y="11847909"/>
            <a:ext cx="4661154" cy="2913221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pic>
        <p:nvPicPr>
          <p:cNvPr id="36" name="Picture 35" descr="06-panel-bi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8228" y="15139749"/>
            <a:ext cx="4661154" cy="2913221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pic>
        <p:nvPicPr>
          <p:cNvPr id="37" name="Picture 36" descr="07-decis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03702" y="15139749"/>
            <a:ext cx="4661154" cy="2913221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sp>
        <p:nvSpPr>
          <p:cNvPr id="38" name="TextBox 37"/>
          <p:cNvSpPr txBox="1"/>
          <p:nvPr/>
        </p:nvSpPr>
        <p:spPr>
          <a:xfrm>
            <a:off x="10968228" y="18242280"/>
            <a:ext cx="95966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60646C"/>
                </a:solidFill>
                <a:latin typeface="Arial"/>
              </a:rPr>
              <a:t>Generated assessment · sandboxed coding · panel with bias check · human decision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68228" y="19275552"/>
            <a:ext cx="109728" cy="50292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42548" y="19202400"/>
            <a:ext cx="95966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 i="0">
                <a:solidFill>
                  <a:srgbClr val="1C2024"/>
                </a:solidFill>
                <a:latin typeface="Arial"/>
              </a:rPr>
              <a:t>Data and validation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68228" y="20071080"/>
            <a:ext cx="3046476" cy="17373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42548" y="20208240"/>
            <a:ext cx="30464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000" b="1" i="0">
                <a:solidFill>
                  <a:srgbClr val="3E63DD"/>
                </a:solidFill>
                <a:latin typeface="Arial"/>
              </a:rPr>
              <a:t>2,484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2548" y="21168360"/>
            <a:ext cx="30464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0646C"/>
                </a:solidFill>
                <a:latin typeface="Arial"/>
              </a:rPr>
              <a:t>Kaggle resumes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243304" y="20071080"/>
            <a:ext cx="3046476" cy="17373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517624" y="20208240"/>
            <a:ext cx="30464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000" b="1" i="0">
                <a:solidFill>
                  <a:srgbClr val="3E63DD"/>
                </a:solidFill>
                <a:latin typeface="Arial"/>
              </a:rPr>
              <a:t>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517624" y="21168360"/>
            <a:ext cx="30464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0646C"/>
                </a:solidFill>
                <a:latin typeface="Arial"/>
              </a:rPr>
              <a:t>imported (6 roles)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518380" y="20071080"/>
            <a:ext cx="3046476" cy="17373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792700" y="20208240"/>
            <a:ext cx="30464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000" b="1" i="0">
                <a:solidFill>
                  <a:srgbClr val="3E63DD"/>
                </a:solidFill>
                <a:latin typeface="Arial"/>
              </a:rPr>
              <a:t>149/149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792700" y="21168360"/>
            <a:ext cx="30464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0646C"/>
                </a:solidFill>
                <a:latin typeface="Arial"/>
              </a:rPr>
              <a:t>tests passed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10968228" y="22082760"/>
          <a:ext cx="959662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3787"/>
                <a:gridCol w="1370946"/>
                <a:gridCol w="1370946"/>
                <a:gridCol w="1370946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60646C"/>
                          </a:solidFill>
                          <a:latin typeface="Arial"/>
                        </a:rPr>
                        <a:t>Suite</a:t>
                      </a:r>
                    </a:p>
                  </a:txBody>
                  <a:tcPr marL="152400" marR="152400" marT="63500" marB="63500" anchor="ctr">
                    <a:solidFill>
                      <a:srgbClr val="F7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60646C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52400" marR="152400" marT="63500" marB="63500" anchor="ctr">
                    <a:solidFill>
                      <a:srgbClr val="F7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60646C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152400" marR="152400" marT="63500" marB="63500" anchor="ctr">
                    <a:solidFill>
                      <a:srgbClr val="F7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60646C"/>
                          </a:solidFill>
                          <a:latin typeface="Arial"/>
                        </a:rPr>
                        <a:t>Fail</a:t>
                      </a:r>
                    </a:p>
                  </a:txBody>
                  <a:tcPr marL="152400" marR="152400" marT="63500" marB="63500" anchor="ctr">
                    <a:solidFill>
                      <a:srgbClr val="F7F7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C2024"/>
                          </a:solidFill>
                          <a:latin typeface="Arial"/>
                        </a:rPr>
                        <a:t>Backend (pytest)</a:t>
                      </a:r>
                    </a:p>
                  </a:txBody>
                  <a:tcPr marL="152400" marR="1524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C2024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152400" marR="1524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8794E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152400" marR="1524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C20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52400" marR="152400" marT="63500" marB="635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C2024"/>
                          </a:solidFill>
                          <a:latin typeface="Arial"/>
                        </a:rPr>
                        <a:t>Frontend (Vitest)</a:t>
                      </a:r>
                    </a:p>
                  </a:txBody>
                  <a:tcPr marL="152400" marR="1524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C2024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52400" marR="1524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8794E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52400" marR="1524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C20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52400" marR="152400" marT="63500" marB="635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C2024"/>
                          </a:solidFill>
                          <a:latin typeface="Arial"/>
                        </a:rPr>
                        <a:t>End-to-end (Playwright)</a:t>
                      </a:r>
                    </a:p>
                  </a:txBody>
                  <a:tcPr marL="152400" marR="1524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C2024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52400" marR="1524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8794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52400" marR="1524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C20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52400" marR="152400" marT="63500" marB="635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10968228" y="24505920"/>
            <a:ext cx="95966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2000" b="0" i="0">
                <a:solidFill>
                  <a:srgbClr val="1C2024"/>
                </a:solidFill>
                <a:latin typeface="Arial"/>
              </a:rPr>
              <a:t>Real Kaggle resumes replace synthetic seed data; dataset records are labelled and kept apart from applicants.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2000" b="0" i="0">
                <a:solidFill>
                  <a:srgbClr val="1C2024"/>
                </a:solidFill>
                <a:latin typeface="Arial"/>
              </a:rPr>
              <a:t>Test tables are generated from the runners' result files — unit, API, component and 9 end-to-end journeys.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" y="26517600"/>
            <a:ext cx="19741896" cy="301752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80160" y="26791920"/>
            <a:ext cx="91394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024"/>
                </a:solidFill>
                <a:latin typeface="Arial"/>
              </a:rPr>
              <a:t>Does it learn?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27432000"/>
            <a:ext cx="886510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0" i="0">
                <a:solidFill>
                  <a:srgbClr val="1C2024"/>
                </a:solidFill>
                <a:latin typeface="Arial"/>
              </a:rPr>
              <a:t>No. Scoring is rubric-based and inspectable; an optional LLM helps with open answers, questions and summaries. Outcomes are stored for analytics only — learning from past hiring risks encoding past bias.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1108" y="26791920"/>
            <a:ext cx="91394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024"/>
                </a:solidFill>
                <a:latin typeface="Arial"/>
              </a:rPr>
              <a:t>Limitations · next steps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1108" y="27432000"/>
            <a:ext cx="89565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0" i="0">
                <a:solidFill>
                  <a:srgbClr val="1C2024"/>
                </a:solidFill>
                <a:latin typeface="Arial"/>
              </a:rPr>
              <a:t>No real cohort data or hiring outcomes; LLM output quality not evaluated; subprocess sandbox is defence in depth. Next: audited rubric updates, expert-agreement validation, container sandbox by default.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29589984"/>
            <a:ext cx="19741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0646C"/>
                </a:solidFill>
                <a:latin typeface="Arial"/>
              </a:rPr>
              <a:t>github.com/UditaB20/jasipa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