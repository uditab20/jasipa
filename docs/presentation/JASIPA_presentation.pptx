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C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DF2FE"/>
                </a:solidFill>
                <a:latin typeface="Arial"/>
              </a:rPr>
              <a:t>MINOR PROJECT ·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JASIPA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3840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Job Applicant Screening and Interview Panel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E4E4E7"/>
                </a:solidFill>
                <a:latin typeface="Arial"/>
              </a:rPr>
              <a:t>[Team member names]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E4E4E7"/>
                </a:solidFill>
                <a:latin typeface="Arial"/>
              </a:rPr>
              <a:t>Guide: [Guide name]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E4E4E7"/>
                </a:solidFill>
                <a:latin typeface="Arial"/>
              </a:rPr>
              <a:t>Dept. of CSE (Artificial Intelligence)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09728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60646C"/>
                </a:solidFill>
                <a:latin typeface="Arial"/>
              </a:rPr>
              <a:t>An HR agent that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9164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D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6916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E63DD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70992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C2024"/>
                </a:solidFill>
                <a:latin typeface="Arial"/>
              </a:rPr>
              <a:t>Screens resumes</a:t>
            </a:r>
            <a:r>
              <a:rPr sz="1800" b="0" i="0">
                <a:solidFill>
                  <a:srgbClr val="60646C"/>
                </a:solidFill>
                <a:latin typeface="Arial"/>
              </a:rPr>
              <a:t>  against a versioned, job-anchored rubric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56032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D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5603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E63DD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5786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C2024"/>
                </a:solidFill>
                <a:latin typeface="Arial"/>
              </a:rPr>
              <a:t>Assesses skills</a:t>
            </a:r>
            <a:r>
              <a:rPr sz="1800" b="0" i="0">
                <a:solidFill>
                  <a:srgbClr val="60646C"/>
                </a:solidFill>
                <a:latin typeface="Arial"/>
              </a:rPr>
              <a:t>  with generated questions and sandboxed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42900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D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34290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E63DD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472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C2024"/>
                </a:solidFill>
                <a:latin typeface="Arial"/>
              </a:rPr>
              <a:t>Convenes a panel</a:t>
            </a:r>
            <a:r>
              <a:rPr sz="1800" b="0" i="0">
                <a:solidFill>
                  <a:srgbClr val="60646C"/>
                </a:solidFill>
                <a:latin typeface="Arial"/>
              </a:rPr>
              <a:t>  of three independent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429768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D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4297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E63DD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31596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C2024"/>
                </a:solidFill>
                <a:latin typeface="Arial"/>
              </a:rPr>
              <a:t>Checks for bias</a:t>
            </a:r>
            <a:r>
              <a:rPr sz="1800" b="0" i="0">
                <a:solidFill>
                  <a:srgbClr val="60646C"/>
                </a:solidFill>
                <a:latin typeface="Arial"/>
              </a:rPr>
              <a:t>  on every merged decision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5166360"/>
            <a:ext cx="457200" cy="457200"/>
          </a:xfrm>
          <a:prstGeom prst="roundRect">
            <a:avLst>
              <a:gd name="adj" fmla="val 6000"/>
            </a:avLst>
          </a:prstGeom>
          <a:solidFill>
            <a:srgbClr val="ED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5166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E63DD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1846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C2024"/>
                </a:solidFill>
                <a:latin typeface="Arial"/>
              </a:rPr>
              <a:t>Leaves the decision</a:t>
            </a:r>
            <a:r>
              <a:rPr sz="1800" b="0" i="0">
                <a:solidFill>
                  <a:srgbClr val="60646C"/>
                </a:solidFill>
                <a:latin typeface="Arial"/>
              </a:rPr>
              <a:t>  to a human, with a verifiable audit trail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Screening is slow, inconsistent and hard to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0646C"/>
                </a:solidFill>
                <a:latin typeface="Arial"/>
              </a:rPr>
              <a:t>Recruitment AI is classed as high-risk under the EU AI Act; NYC Local Law 144 requires bias audits.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54864" cy="32004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019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C2024"/>
                </a:solidFill>
                <a:latin typeface="Arial"/>
              </a:rPr>
              <a:t>Inconsistent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59152"/>
            <a:ext cx="3154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0646C"/>
                </a:solidFill>
                <a:latin typeface="Arial"/>
              </a:rPr>
              <a:t>Different reviewers weigh the same resume differently; criteria drift between rounds and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73736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920240"/>
            <a:ext cx="54864" cy="32004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9019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C2024"/>
                </a:solidFill>
                <a:latin typeface="Arial"/>
              </a:rPr>
              <a:t>Unchecked disparity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359152"/>
            <a:ext cx="3154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0646C"/>
                </a:solidFill>
                <a:latin typeface="Arial"/>
              </a:rPr>
              <a:t>Small applicant pools make adverse-impact checks easy to misread: no data is often reported as no bias.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73736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920240"/>
            <a:ext cx="54864" cy="32004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9019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C2024"/>
                </a:solidFill>
                <a:latin typeface="Arial"/>
              </a:rPr>
              <a:t>Opaque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359152"/>
            <a:ext cx="3154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0646C"/>
                </a:solidFill>
                <a:latin typeface="Arial"/>
              </a:rPr>
              <a:t>Automated rejection without human review or an audit trail is unacceptable for hiring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0624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ED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389120"/>
            <a:ext cx="10454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3E63DD"/>
                </a:solidFill>
                <a:latin typeface="Arial"/>
              </a:rPr>
              <a:t>Problem statement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C2024"/>
                </a:solidFill>
                <a:latin typeface="Arial"/>
              </a:rPr>
              <a:t>Build an HR agent that takes a candidate from resume screening through skill assessment to an interview-panel recommendation, using resume_screen, skill_assess and bias_check tools, a JD-anchored rubric, stage memory, an MCP connector to an ATS database and a swarm of evaluator agents — where no candidate is rejected without human review and every panel decision carries a logged bias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Objectives and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849"/>
                <a:gridCol w="7651320"/>
                <a:gridCol w="2869245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0646C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106680" marR="106680" marT="44450" marB="44450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0646C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marL="106680" marR="106680" marT="44450" marB="44450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0646C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106680" marR="106680" marT="44450" marB="44450" anchor="ctr">
                    <a:solidFill>
                      <a:srgbClr val="F7F7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Screen PDF, DOCX and dataset resumes against a versioned rubric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794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Generate MCQ, coding, scenario and STAR assessments; regenerate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794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Score code against hidden tests in an isolated sandbox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794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O4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Swarm of three evaluators + Panel Coordinator (LangGraph)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794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O5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Bias check on every panel decision, small-sample aware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AB6400"/>
                          </a:solidFill>
                          <a:latin typeface="Arial"/>
                        </a:rPr>
                        <a:t>Done · no real cohort data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O6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Human decisions, two-reviewer escalation, auditable log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794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O7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MCP connector to the ATS database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794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O8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Kaggle Resume Dataset as candidate data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794E"/>
                          </a:solidFill>
                          <a:latin typeface="Arial"/>
                        </a:rPr>
                        <a:t>Done · 6 categories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O9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Agents that learn from decisions and outcomes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E2C31"/>
                          </a:solidFill>
                          <a:latin typeface="Arial"/>
                        </a:rPr>
                        <a:t>Not implemented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0646C"/>
                </a:solidFill>
                <a:latin typeface="Arial"/>
              </a:rPr>
              <a:t>React SPA → FastAPI → agents, sandbox and bias services → SQL database; MCP connector for agents.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4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19" y="1600200"/>
            <a:ext cx="4452081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178308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500" b="1" i="0">
                <a:solidFill>
                  <a:srgbClr val="1C2024"/>
                </a:solidFill>
                <a:latin typeface="Arial"/>
              </a:rPr>
              <a:t>Frontend:</a:t>
            </a:r>
            <a:r>
              <a:rPr sz="1500" b="0" i="0">
                <a:solidFill>
                  <a:srgbClr val="1C2024"/>
                </a:solidFill>
                <a:latin typeface="Arial"/>
              </a:rPr>
              <a:t> React 19 + Vite; HR workspace and candidate portal; light, minimal design system.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500" b="1" i="0">
                <a:solidFill>
                  <a:srgbClr val="1C2024"/>
                </a:solidFill>
                <a:latin typeface="Arial"/>
              </a:rPr>
              <a:t>API:</a:t>
            </a:r>
            <a:r>
              <a:rPr sz="1500" b="0" i="0">
                <a:solidFill>
                  <a:srgbClr val="1C2024"/>
                </a:solidFill>
                <a:latin typeface="Arial"/>
              </a:rPr>
              <a:t> FastAPI with JWT, bcrypt and role-based access (HR / candidate).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500" b="1" i="0">
                <a:solidFill>
                  <a:srgbClr val="1C2024"/>
                </a:solidFill>
                <a:latin typeface="Arial"/>
              </a:rPr>
              <a:t>Agents:</a:t>
            </a:r>
            <a:r>
              <a:rPr sz="1500" b="0" i="0">
                <a:solidFill>
                  <a:srgbClr val="1C2024"/>
                </a:solidFill>
                <a:latin typeface="Arial"/>
              </a:rPr>
              <a:t> LangGraph state graph; each agent is a chain of strategies — LLM → rules → human expert.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500" b="1" i="0">
                <a:solidFill>
                  <a:srgbClr val="1C2024"/>
                </a:solidFill>
                <a:latin typeface="Arial"/>
              </a:rPr>
              <a:t>Services:</a:t>
            </a:r>
            <a:r>
              <a:rPr sz="1500" b="0" i="0">
                <a:solidFill>
                  <a:srgbClr val="1C2024"/>
                </a:solidFill>
                <a:latin typeface="Arial"/>
              </a:rPr>
              <a:t> resume parser, question generator, code sandbox, fairness statistics, audit chain.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500" b="1" i="0">
                <a:solidFill>
                  <a:srgbClr val="1C2024"/>
                </a:solidFill>
                <a:latin typeface="Arial"/>
              </a:rPr>
              <a:t>Data:</a:t>
            </a:r>
            <a:r>
              <a:rPr sz="1500" b="0" i="0">
                <a:solidFill>
                  <a:srgbClr val="1C2024"/>
                </a:solidFill>
                <a:latin typeface="Arial"/>
              </a:rPr>
              <a:t> SQLAlchemy over SQLite / PostgreSQL; versioned rubrics; candidate stage memory.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500" b="1" i="0">
                <a:solidFill>
                  <a:srgbClr val="1C2024"/>
                </a:solidFill>
                <a:latin typeface="Arial"/>
              </a:rPr>
              <a:t>Connector:</a:t>
            </a:r>
            <a:r>
              <a:rPr sz="1500" b="0" i="0">
                <a:solidFill>
                  <a:srgbClr val="1C2024"/>
                </a:solidFill>
                <a:latin typeface="Arial"/>
              </a:rPr>
              <a:t> MCP stdio JSON-RPC + REST facade over ATS records — no decision tool exposed.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Agentic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0646C"/>
                </a:solidFill>
                <a:latin typeface="Arial"/>
              </a:rPr>
              <a:t>Three evaluators run in parallel on separate evidence and never see each other's output.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5</a:t>
            </a:r>
          </a:p>
        </p:txBody>
      </p:sp>
      <p:pic>
        <p:nvPicPr>
          <p:cNvPr id="10" name="Picture 9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5917"/>
            <a:ext cx="6949440" cy="3649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0" y="1783080"/>
            <a:ext cx="39319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Resume-Screener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— resume vs. rubric (redacted, injection-screened)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Skill-Assessor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— answer keys, sandbox pass rate, open answers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Culture-Fit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— STAR evidence per competency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Panel Coordinator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— weighted merge (0.4 / 0.4 / 0.2), routes only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Bias check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— bound to the panel decision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Human reviewer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— records the decision; 2 reviewers if agents diverge ≥ 30 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Agentic AI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632"/>
                <a:gridCol w="909378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0646C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106680" marR="106680" marT="44450" marB="44450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0646C"/>
                          </a:solidFill>
                          <a:latin typeface="Arial"/>
                        </a:rPr>
                        <a:t>Implementation in JASIPA</a:t>
                      </a:r>
                    </a:p>
                  </a:txBody>
                  <a:tcPr marL="106680" marR="106680" marT="44450" marB="44450" anchor="ctr">
                    <a:solidFill>
                      <a:srgbClr val="F7F7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Tools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resume_screen · skill_assess (with code sandbox) · bias_check · MCP ATS tools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Skill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Versioned JD-anchored rubric: resume 50/15/20/15, technical 30/40/30, competencies = 100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Candidate stage machine, panel history across rounds, cached question sets, audit history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Connector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MCP (initialize, tools/list, tools/call) over stdio, plus REST facade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Orchestration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LangGraph StateGraph: dispatch → 3 parallel evaluators → panel → bias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Optional Gemini 2.5 Flash, JSON output, temperature 0.2 — deterministic fallbacks offline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Governance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Routing-only labels · human decision endpoint · two-reviewer rule · hash-chained log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QUESTIONGENERATIONAGENT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Role-specific assessments and sandboxed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7</a:t>
            </a:r>
          </a:p>
        </p:txBody>
      </p:sp>
      <p:pic>
        <p:nvPicPr>
          <p:cNvPr id="9" name="Picture 8" descr="03-job-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7340"/>
            <a:ext cx="5486400" cy="3429000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pic>
        <p:nvPicPr>
          <p:cNvPr id="10" name="Picture 9" descr="05-candidate-co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4490"/>
            <a:ext cx="5303520" cy="3314700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534924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3E63DD"/>
                </a:solidFill>
                <a:latin typeface="Arial"/>
              </a:rPr>
              <a:t>Generation  </a:t>
            </a:r>
            <a:r>
              <a:rPr sz="1200" b="0" i="0">
                <a:solidFill>
                  <a:srgbClr val="60646C"/>
                </a:solidFill>
                <a:latin typeface="Arial"/>
              </a:rPr>
              <a:t>MCQ, coding (programming roles only), scenario and STAR questions from the JD and rubric; cached per rubric version. Regenerate saves only a set that differs, and reports how many questions changed.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3E63DD"/>
                </a:solidFill>
                <a:latin typeface="Arial"/>
              </a:rPr>
              <a:t>Sandbox  </a:t>
            </a:r>
            <a:r>
              <a:rPr sz="1200" b="0" i="0">
                <a:solidFill>
                  <a:srgbClr val="60646C"/>
                </a:solidFill>
                <a:latin typeface="Arial"/>
              </a:rPr>
              <a:t>Fresh isolated interpreter, CPU / memory / file / process limits, audit hook blocks network, files and subprocesses. Judging happens outside the sandbox, so forged output cannot 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Bias check: three honest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0646C"/>
                </a:solidFill>
                <a:latin typeface="Arial"/>
              </a:rPr>
              <a:t>Cohort = HR-recorded monitoring label; never inferred from resumes, never shown to agents.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CE2C31"/>
                </a:solidFill>
                <a:latin typeface="Arial"/>
              </a:rPr>
              <a:t>Disparity 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C2024"/>
                </a:solidFill>
                <a:latin typeface="Arial"/>
              </a:rPr>
              <a:t>Impact ratio &lt; 0.80 (four-fifths screen) with n ≥ 5 in each cohort. Fisher p shown as significant / not significant.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7373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E9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1920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8794E"/>
                </a:solidFill>
                <a:latin typeface="Arial"/>
              </a:rPr>
              <a:t>No indicator detected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6888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C2024"/>
                </a:solidFill>
                <a:latin typeface="Arial"/>
              </a:rPr>
              <a:t>Screen not triggered. A significant rate difference alone is a note, not a warning. Under n = 30: low-power caution.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8" y="17373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8" y="1920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AB6400"/>
                </a:solidFill>
                <a:latin typeface="Arial"/>
              </a:rPr>
              <a:t>Insufficient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46888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C2024"/>
                </a:solidFill>
                <a:latin typeface="Arial"/>
              </a:rPr>
              <a:t>Cohort below 5, fewer than two eligible cohorts, or no selections. Never presented as fairness.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Per decision: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AI recommendation, final human decision, post-hire outcome, score-threshold gap and rationale language.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Uncertainty: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Wilson 95% intervals; fragility flag when one outcome would flip the screen; Fisher test verified against SciPy.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Separation: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the bias check never changes scores or routing — it informs the human reviewer.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HUMAN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Panel, bias check and human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9</a:t>
            </a:r>
          </a:p>
        </p:txBody>
      </p:sp>
      <p:pic>
        <p:nvPicPr>
          <p:cNvPr id="9" name="Picture 8" descr="06-panel-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3429000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pic>
        <p:nvPicPr>
          <p:cNvPr id="10" name="Picture 9" descr="07-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486400" cy="3429000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50292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0" i="0">
                <a:solidFill>
                  <a:srgbClr val="1C2024"/>
                </a:solidFill>
                <a:latin typeface="Arial"/>
              </a:rPr>
              <a:t>A decision is accepted only for the latest panel decision with a bias check, and binds both IDs to the review.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0" i="0">
                <a:solidFill>
                  <a:srgbClr val="1C2024"/>
                </a:solidFill>
                <a:latin typeface="Arial"/>
              </a:rPr>
              <a:t>Every action is appended to a SHA-256 hash chain; Audit log → Verify integrity recomputes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Data: Kaggle Resume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0646C"/>
                </a:solidFill>
                <a:latin typeface="Arial"/>
              </a:rPr>
              <a:t>Seeded synthetic candidates were replaced by real resumes; nothing is invented.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3E63DD"/>
                </a:solidFill>
                <a:latin typeface="Arial"/>
              </a:rPr>
              <a:t>2,484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0646C"/>
                </a:solidFill>
                <a:latin typeface="Arial"/>
              </a:rPr>
              <a:t>resumes in Resume.csv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3736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828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3E63DD"/>
                </a:solidFill>
                <a:latin typeface="Arial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0646C"/>
                </a:solidFill>
                <a:latin typeface="Arial"/>
              </a:rPr>
              <a:t>job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73736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3E63DD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0646C"/>
                </a:solidFill>
                <a:latin typeface="Arial"/>
              </a:rPr>
              <a:t>categories with authored JDs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737360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828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3E63DD"/>
                </a:solidFill>
                <a:latin typeface="Arial"/>
              </a:rPr>
              <a:t>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0646C"/>
                </a:solidFill>
                <a:latin typeface="Arial"/>
              </a:rPr>
              <a:t>records imported by default</a:t>
            </a:r>
          </a:p>
        </p:txBody>
      </p:sp>
      <p:pic>
        <p:nvPicPr>
          <p:cNvPr id="22" name="Picture 21" descr="09-dataset-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246120"/>
            <a:ext cx="4828032" cy="3017520"/>
          </a:xfrm>
          <a:prstGeom prst="rect">
            <a:avLst/>
          </a:prstGeom>
          <a:ln w="9525">
            <a:solidFill>
              <a:srgbClr val="E4E4E7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48640" y="3337560"/>
            <a:ext cx="54864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300" b="1" i="0">
                <a:solidFill>
                  <a:srgbClr val="1C2024"/>
                </a:solidFill>
                <a:latin typeface="Arial"/>
              </a:rPr>
              <a:t>Categories:</a:t>
            </a:r>
            <a:r>
              <a:rPr sz="1300" b="0" i="0">
                <a:solidFill>
                  <a:srgbClr val="1C2024"/>
                </a:solidFill>
                <a:latin typeface="Arial"/>
              </a:rPr>
              <a:t> IT, Engineering, HR, Finance, Accountant, Business Development.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300" b="1" i="0">
                <a:solidFill>
                  <a:srgbClr val="1C2024"/>
                </a:solidFill>
                <a:latin typeface="Arial"/>
              </a:rPr>
              <a:t>Structure:</a:t>
            </a:r>
            <a:r>
              <a:rPr sz="1300" b="0" i="0">
                <a:solidFill>
                  <a:srgbClr val="1C2024"/>
                </a:solidFill>
                <a:latin typeface="Arial"/>
              </a:rPr>
              <a:t> sections rebuilt from Resume_html, so the resume reads like the original.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300" b="1" i="0">
                <a:solidFill>
                  <a:srgbClr val="1C2024"/>
                </a:solidFill>
                <a:latin typeface="Arial"/>
              </a:rPr>
              <a:t>Provenance:</a:t>
            </a:r>
            <a:r>
              <a:rPr sz="1300" b="0" i="0">
                <a:solidFill>
                  <a:srgbClr val="1C2024"/>
                </a:solidFill>
                <a:latin typeface="Arial"/>
              </a:rPr>
              <a:t> source = dataset_import, external ID, category; badge in the UI; separate from real applicants.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300" b="1" i="0">
                <a:solidFill>
                  <a:srgbClr val="1C2024"/>
                </a:solidFill>
                <a:latin typeface="Arial"/>
              </a:rPr>
              <a:t>Honest gaps:</a:t>
            </a:r>
            <a:r>
              <a:rPr sz="1300" b="0" i="0">
                <a:solidFill>
                  <a:srgbClr val="1C2024"/>
                </a:solidFill>
                <a:latin typeface="Arial"/>
              </a:rPr>
              <a:t> no names, cohorts, answers or outcomes — so dataset runs report incomplete evidence and insufficient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Testing: 149 / 149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0646C"/>
                </a:solidFill>
                <a:latin typeface="Arial"/>
              </a:rPr>
              <a:t>Generated from the runners' result files by scripts/run_all_tests.py — not written by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73736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805"/>
                <a:gridCol w="885825"/>
                <a:gridCol w="885825"/>
                <a:gridCol w="885825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60646C"/>
                          </a:solidFill>
                          <a:latin typeface="Arial"/>
                        </a:rPr>
                        <a:t>Suite</a:t>
                      </a:r>
                    </a:p>
                  </a:txBody>
                  <a:tcPr marL="114300" marR="114300" marT="47625" marB="47625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60646C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14300" marR="114300" marT="47625" marB="47625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60646C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114300" marR="114300" marT="47625" marB="47625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60646C"/>
                          </a:solidFill>
                          <a:latin typeface="Arial"/>
                        </a:rPr>
                        <a:t>Fail</a:t>
                      </a:r>
                    </a:p>
                  </a:txBody>
                  <a:tcPr marL="114300" marR="114300" marT="47625" marB="47625" anchor="ctr">
                    <a:solidFill>
                      <a:srgbClr val="F7F7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024"/>
                          </a:solidFill>
                          <a:latin typeface="Arial"/>
                        </a:rPr>
                        <a:t>Backend (pytest)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024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8794E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0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024"/>
                          </a:solidFill>
                          <a:latin typeface="Arial"/>
                        </a:rPr>
                        <a:t>Frontend (Vitest)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024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8794E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0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024"/>
                          </a:solidFill>
                          <a:latin typeface="Arial"/>
                        </a:rPr>
                        <a:t>End-to-end (Playwright)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024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8794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C20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C2024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C2024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8794E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C2024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0" y="1737360"/>
            <a:ext cx="49377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Unit: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agents, sandbox escapes, question generation, Fisher / Wilson values, resume parsing.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API: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RBAC, uploads, regeneration, decisions, two reviewers, audit chain, MCP.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Component: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IST formatting, bias labels, resume rendering, regeneration feedback.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End-to-end: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9 Playwright journeys — job → application → sandboxed code → panel → bias → decision → audit.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400" b="1" i="0">
                <a:solidFill>
                  <a:srgbClr val="1C2024"/>
                </a:solidFill>
                <a:latin typeface="Arial"/>
              </a:rPr>
              <a:t>Defects found:</a:t>
            </a:r>
            <a:r>
              <a:rPr sz="1400" b="0" i="0">
                <a:solidFill>
                  <a:srgbClr val="1C2024"/>
                </a:solidFill>
                <a:latin typeface="Arial"/>
              </a:rPr>
              <a:t> 'C' matched inside 'C++'; regeneration reported false success; error-check ordering; sticky sidebar.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HONEST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Does the agent learn? No —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71600"/>
          <a:ext cx="11094414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681"/>
                <a:gridCol w="1467030"/>
                <a:gridCol w="6876703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0646C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marL="106680" marR="106680" marT="44450" marB="44450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0646C"/>
                          </a:solidFill>
                          <a:latin typeface="Arial"/>
                        </a:rPr>
                        <a:t>Present</a:t>
                      </a:r>
                    </a:p>
                  </a:txBody>
                  <a:tcPr marL="106680" marR="106680" marT="44450" marB="44450" anchor="ctr">
                    <a:solidFill>
                      <a:srgbClr val="F7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60646C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106680" marR="106680" marT="44450" marB="44450" anchor="ctr">
                    <a:solidFill>
                      <a:srgbClr val="F7F7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Rubric / rule-based scoring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79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Default for every agent; deterministic and inspectable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LLM inference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AB6400"/>
                          </a:solidFill>
                          <a:latin typeface="Arial"/>
                        </a:rPr>
                        <a:t>Optional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Scoring open answers, drafting questions, summaries — cannot override objective scores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Stored history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8794E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Screenings, assessments, panels, bias checks, reviews, outcomes, audit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Round memory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AB6400"/>
                          </a:solidFill>
                          <a:latin typeface="Arial"/>
                        </a:rPr>
                        <a:t>Context only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Previous panel rounds are reported to the coordinator; scores unchanged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Retrieval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E2C31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No vector store or case retrieval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Training / feedback loop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E2C31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2024"/>
                          </a:solidFill>
                          <a:latin typeface="Arial"/>
                        </a:rPr>
                        <a:t>Hiring outcomes are descriptive analytics; rubric changes are manual</a:t>
                      </a:r>
                    </a:p>
                  </a:txBody>
                  <a:tcPr marL="106680" marR="106680" marT="44450" marB="44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0646C"/>
                </a:solidFill>
                <a:latin typeface="Arial"/>
              </a:rPr>
              <a:t>Why: learning from historical hiring outcomes can encode historical bias. Any feedback loop needs a validated, audited, human-approved process — stored outcomes are the foundation for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E6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3E63DD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C2024"/>
                </a:solidFill>
                <a:latin typeface="Arial"/>
              </a:rPr>
              <a:t>Limitations and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00800"/>
            <a:ext cx="11094415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JASIPA · Job Applicant Screening and Interview Panel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0646C"/>
                </a:solidFill>
                <a:latin typeface="Arial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54480"/>
            <a:ext cx="54864" cy="320040"/>
          </a:xfrm>
          <a:prstGeom prst="rect">
            <a:avLst/>
          </a:prstGeom>
          <a:solidFill>
            <a:srgbClr val="AB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C2024"/>
                </a:solidFill>
                <a:latin typeface="Arial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93392"/>
            <a:ext cx="4983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No learning loop from decisions or outcomes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No real cohort data — bias paths validated on controlled tests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Dataset has no outcomes, so accuracy vs. hiring ground truth is not measured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LLM paths tested with mocks; output quality not evaluated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Subprocess sandbox is defence in depth; Docker recommended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Low statistical power under 30 candidates per cohort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6000"/>
            </a:avLst>
          </a:prstGeom>
          <a:solidFill>
            <a:srgbClr val="F7F7F8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54864" cy="320040"/>
          </a:xfrm>
          <a:prstGeom prst="rect">
            <a:avLst/>
          </a:prstGeom>
          <a:solidFill>
            <a:srgbClr val="187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361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C2024"/>
                </a:solidFill>
                <a:latin typeface="Arial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93392"/>
            <a:ext cx="49834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Audited, human-approved rubric updates from outcomes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Retrieval over past evaluations for reviewer consistency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Agreement metrics against expert ratings on a labelled sample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More dataset categories and sandbox languages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Container / VM sandbox by default; production ATS over MCP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700" b="1" i="0">
                <a:solidFill>
                  <a:srgbClr val="3E63DD"/>
                </a:solidFill>
                <a:latin typeface="Arial"/>
              </a:rPr>
              <a:t>•  </a:t>
            </a:r>
            <a:r>
              <a:rPr sz="1700" b="0" i="0">
                <a:solidFill>
                  <a:srgbClr val="1C2024"/>
                </a:solidFill>
                <a:latin typeface="Arial"/>
              </a:rPr>
              <a:t>Intersectional cohorts and power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E4E4E7"/>
                </a:solidFill>
                <a:latin typeface="Arial"/>
              </a:rPr>
              <a:t>Questions and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EDF2FE"/>
                </a:solidFill>
                <a:latin typeface="Arial"/>
              </a:rPr>
              <a:t>github.com/UditaB20/jasipa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